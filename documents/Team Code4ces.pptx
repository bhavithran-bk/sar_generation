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5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8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4B37C-1BE1-5B50-225B-9EA854C4D165}" v="81" dt="2026-01-30T19:44:57.446"/>
    <p1510:client id="{0F5D852A-2A01-9266-A930-2354D86AD8D2}" v="26" dt="2026-01-30T17:00:36.625"/>
    <p1510:client id="{3A7EDCCF-E537-7EAE-626E-A96C9470A288}" v="52" dt="2026-01-30T19:28:42.686"/>
    <p1510:client id="{762C129A-119B-3659-C4B5-BA08E2A0E880}" v="329" dt="2026-01-30T20:43:49.145"/>
    <p1510:client id="{8EC31628-AA4D-B08C-839E-3E5935B1EBB8}" v="5" dt="2026-01-30T17:14:39.125"/>
    <p1510:client id="{C63D9311-66F9-486B-762C-D01883802856}" v="127" dt="2026-01-30T20:11:42.0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578125"/>
            <a:ext cx="4981542" cy="27088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203062"/>
            <a:ext cx="3361700" cy="208393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8658910"/>
            <a:ext cx="2595245" cy="1628139"/>
          </a:xfrm>
          <a:custGeom>
            <a:avLst/>
            <a:gdLst/>
            <a:ahLst/>
            <a:cxnLst/>
            <a:rect l="l" t="t" r="r" b="b"/>
            <a:pathLst>
              <a:path w="2595245" h="1628140">
                <a:moveTo>
                  <a:pt x="1014399" y="1628089"/>
                </a:moveTo>
                <a:lnTo>
                  <a:pt x="651040" y="1427797"/>
                </a:lnTo>
                <a:lnTo>
                  <a:pt x="401955" y="905662"/>
                </a:lnTo>
                <a:lnTo>
                  <a:pt x="402069" y="905256"/>
                </a:lnTo>
                <a:lnTo>
                  <a:pt x="402120" y="904176"/>
                </a:lnTo>
                <a:lnTo>
                  <a:pt x="401789" y="902601"/>
                </a:lnTo>
                <a:lnTo>
                  <a:pt x="380441" y="833462"/>
                </a:lnTo>
                <a:lnTo>
                  <a:pt x="380441" y="879919"/>
                </a:lnTo>
                <a:lnTo>
                  <a:pt x="189623" y="688390"/>
                </a:lnTo>
                <a:lnTo>
                  <a:pt x="310502" y="687539"/>
                </a:lnTo>
                <a:lnTo>
                  <a:pt x="321017" y="687463"/>
                </a:lnTo>
                <a:lnTo>
                  <a:pt x="380441" y="879919"/>
                </a:lnTo>
                <a:lnTo>
                  <a:pt x="380441" y="833462"/>
                </a:lnTo>
                <a:lnTo>
                  <a:pt x="333057" y="679996"/>
                </a:lnTo>
                <a:lnTo>
                  <a:pt x="414007" y="71412"/>
                </a:lnTo>
                <a:lnTo>
                  <a:pt x="408622" y="63754"/>
                </a:lnTo>
                <a:lnTo>
                  <a:pt x="408482" y="63715"/>
                </a:lnTo>
                <a:lnTo>
                  <a:pt x="408228" y="63690"/>
                </a:lnTo>
                <a:lnTo>
                  <a:pt x="0" y="0"/>
                </a:lnTo>
                <a:lnTo>
                  <a:pt x="0" y="13868"/>
                </a:lnTo>
                <a:lnTo>
                  <a:pt x="385330" y="73977"/>
                </a:lnTo>
                <a:lnTo>
                  <a:pt x="0" y="271284"/>
                </a:lnTo>
                <a:lnTo>
                  <a:pt x="0" y="286626"/>
                </a:lnTo>
                <a:lnTo>
                  <a:pt x="368731" y="97866"/>
                </a:lnTo>
                <a:lnTo>
                  <a:pt x="394436" y="84696"/>
                </a:lnTo>
                <a:lnTo>
                  <a:pt x="392734" y="89154"/>
                </a:lnTo>
                <a:lnTo>
                  <a:pt x="392734" y="127457"/>
                </a:lnTo>
                <a:lnTo>
                  <a:pt x="320065" y="673773"/>
                </a:lnTo>
                <a:lnTo>
                  <a:pt x="183222" y="674763"/>
                </a:lnTo>
                <a:lnTo>
                  <a:pt x="392734" y="127457"/>
                </a:lnTo>
                <a:lnTo>
                  <a:pt x="392734" y="89154"/>
                </a:lnTo>
                <a:lnTo>
                  <a:pt x="360121" y="174345"/>
                </a:lnTo>
                <a:lnTo>
                  <a:pt x="169392" y="672566"/>
                </a:lnTo>
                <a:lnTo>
                  <a:pt x="0" y="600240"/>
                </a:lnTo>
                <a:lnTo>
                  <a:pt x="0" y="615137"/>
                </a:lnTo>
                <a:lnTo>
                  <a:pt x="130937" y="671042"/>
                </a:lnTo>
                <a:lnTo>
                  <a:pt x="0" y="659434"/>
                </a:lnTo>
                <a:lnTo>
                  <a:pt x="0" y="673150"/>
                </a:lnTo>
                <a:lnTo>
                  <a:pt x="121970" y="683958"/>
                </a:lnTo>
                <a:lnTo>
                  <a:pt x="147256" y="686193"/>
                </a:lnTo>
                <a:lnTo>
                  <a:pt x="0" y="754621"/>
                </a:lnTo>
                <a:lnTo>
                  <a:pt x="0" y="769721"/>
                </a:lnTo>
                <a:lnTo>
                  <a:pt x="131749" y="708494"/>
                </a:lnTo>
                <a:lnTo>
                  <a:pt x="150444" y="699808"/>
                </a:lnTo>
                <a:lnTo>
                  <a:pt x="171792" y="689889"/>
                </a:lnTo>
                <a:lnTo>
                  <a:pt x="181673" y="699820"/>
                </a:lnTo>
                <a:lnTo>
                  <a:pt x="372491" y="891336"/>
                </a:lnTo>
                <a:lnTo>
                  <a:pt x="378917" y="897775"/>
                </a:lnTo>
                <a:lnTo>
                  <a:pt x="0" y="903300"/>
                </a:lnTo>
                <a:lnTo>
                  <a:pt x="0" y="916990"/>
                </a:lnTo>
                <a:lnTo>
                  <a:pt x="369290" y="911618"/>
                </a:lnTo>
                <a:lnTo>
                  <a:pt x="375145" y="911542"/>
                </a:lnTo>
                <a:lnTo>
                  <a:pt x="355663" y="939419"/>
                </a:lnTo>
                <a:lnTo>
                  <a:pt x="0" y="1348574"/>
                </a:lnTo>
                <a:lnTo>
                  <a:pt x="0" y="1369491"/>
                </a:lnTo>
                <a:lnTo>
                  <a:pt x="281101" y="1046086"/>
                </a:lnTo>
                <a:lnTo>
                  <a:pt x="0" y="1448282"/>
                </a:lnTo>
                <a:lnTo>
                  <a:pt x="0" y="1472184"/>
                </a:lnTo>
                <a:lnTo>
                  <a:pt x="366356" y="948004"/>
                </a:lnTo>
                <a:lnTo>
                  <a:pt x="380707" y="931494"/>
                </a:lnTo>
                <a:lnTo>
                  <a:pt x="378599" y="948194"/>
                </a:lnTo>
                <a:lnTo>
                  <a:pt x="292303" y="1628089"/>
                </a:lnTo>
                <a:lnTo>
                  <a:pt x="306108" y="1628089"/>
                </a:lnTo>
                <a:lnTo>
                  <a:pt x="395490" y="923899"/>
                </a:lnTo>
                <a:lnTo>
                  <a:pt x="637527" y="1431163"/>
                </a:lnTo>
                <a:lnTo>
                  <a:pt x="429704" y="1628089"/>
                </a:lnTo>
                <a:lnTo>
                  <a:pt x="449592" y="1628089"/>
                </a:lnTo>
                <a:lnTo>
                  <a:pt x="599122" y="1486395"/>
                </a:lnTo>
                <a:lnTo>
                  <a:pt x="646899" y="1441119"/>
                </a:lnTo>
                <a:lnTo>
                  <a:pt x="986129" y="1628089"/>
                </a:lnTo>
                <a:lnTo>
                  <a:pt x="1014399" y="1628089"/>
                </a:lnTo>
                <a:close/>
              </a:path>
              <a:path w="2595245" h="1628140">
                <a:moveTo>
                  <a:pt x="2594635" y="1628089"/>
                </a:moveTo>
                <a:lnTo>
                  <a:pt x="2535415" y="1394180"/>
                </a:lnTo>
                <a:lnTo>
                  <a:pt x="2529205" y="1389075"/>
                </a:lnTo>
                <a:lnTo>
                  <a:pt x="2527795" y="1389278"/>
                </a:lnTo>
                <a:lnTo>
                  <a:pt x="1569034" y="1589544"/>
                </a:lnTo>
                <a:lnTo>
                  <a:pt x="1567535" y="1590471"/>
                </a:lnTo>
                <a:lnTo>
                  <a:pt x="1566138" y="1592491"/>
                </a:lnTo>
                <a:lnTo>
                  <a:pt x="1545920" y="1628089"/>
                </a:lnTo>
                <a:lnTo>
                  <a:pt x="1559039" y="1628089"/>
                </a:lnTo>
                <a:lnTo>
                  <a:pt x="1561592" y="1628089"/>
                </a:lnTo>
                <a:lnTo>
                  <a:pt x="1572996" y="1608023"/>
                </a:lnTo>
                <a:lnTo>
                  <a:pt x="1576197" y="1612011"/>
                </a:lnTo>
                <a:lnTo>
                  <a:pt x="1589100" y="1628089"/>
                </a:lnTo>
                <a:lnTo>
                  <a:pt x="1606651" y="1628089"/>
                </a:lnTo>
                <a:lnTo>
                  <a:pt x="1584350" y="1600288"/>
                </a:lnTo>
                <a:lnTo>
                  <a:pt x="2512441" y="1406410"/>
                </a:lnTo>
                <a:lnTo>
                  <a:pt x="2346274" y="1628089"/>
                </a:lnTo>
                <a:lnTo>
                  <a:pt x="2358288" y="1628089"/>
                </a:lnTo>
                <a:lnTo>
                  <a:pt x="2363343" y="1628089"/>
                </a:lnTo>
                <a:lnTo>
                  <a:pt x="2522905" y="1415262"/>
                </a:lnTo>
                <a:lnTo>
                  <a:pt x="2526309" y="1482953"/>
                </a:lnTo>
                <a:lnTo>
                  <a:pt x="2533599" y="1628089"/>
                </a:lnTo>
                <a:lnTo>
                  <a:pt x="2547302" y="1628089"/>
                </a:lnTo>
                <a:lnTo>
                  <a:pt x="2539098" y="1464551"/>
                </a:lnTo>
                <a:lnTo>
                  <a:pt x="2580513" y="1628089"/>
                </a:lnTo>
                <a:lnTo>
                  <a:pt x="2594635" y="1628089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65549" y="0"/>
            <a:ext cx="4222451" cy="242822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331774" y="0"/>
            <a:ext cx="2956226" cy="16166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12408" y="-1415"/>
            <a:ext cx="3171399" cy="191409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140888" y="8201450"/>
            <a:ext cx="3159567" cy="2086996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6925315" y="0"/>
            <a:ext cx="1362710" cy="2031364"/>
          </a:xfrm>
          <a:custGeom>
            <a:avLst/>
            <a:gdLst/>
            <a:ahLst/>
            <a:cxnLst/>
            <a:rect l="l" t="t" r="r" b="b"/>
            <a:pathLst>
              <a:path w="1362709" h="2031364">
                <a:moveTo>
                  <a:pt x="1173149" y="0"/>
                </a:moveTo>
                <a:lnTo>
                  <a:pt x="1156665" y="0"/>
                </a:lnTo>
                <a:lnTo>
                  <a:pt x="1026464" y="149796"/>
                </a:lnTo>
                <a:lnTo>
                  <a:pt x="923912" y="0"/>
                </a:lnTo>
                <a:lnTo>
                  <a:pt x="908850" y="0"/>
                </a:lnTo>
                <a:lnTo>
                  <a:pt x="1009484" y="146989"/>
                </a:lnTo>
                <a:lnTo>
                  <a:pt x="627291" y="0"/>
                </a:lnTo>
                <a:lnTo>
                  <a:pt x="592696" y="0"/>
                </a:lnTo>
                <a:lnTo>
                  <a:pt x="1002182" y="157492"/>
                </a:lnTo>
                <a:lnTo>
                  <a:pt x="1002931" y="157784"/>
                </a:lnTo>
                <a:lnTo>
                  <a:pt x="35052" y="332219"/>
                </a:lnTo>
                <a:lnTo>
                  <a:pt x="538594" y="0"/>
                </a:lnTo>
                <a:lnTo>
                  <a:pt x="516039" y="0"/>
                </a:lnTo>
                <a:lnTo>
                  <a:pt x="16929" y="329285"/>
                </a:lnTo>
                <a:lnTo>
                  <a:pt x="109943" y="2590"/>
                </a:lnTo>
                <a:lnTo>
                  <a:pt x="180276" y="0"/>
                </a:lnTo>
                <a:lnTo>
                  <a:pt x="97764" y="0"/>
                </a:lnTo>
                <a:lnTo>
                  <a:pt x="88061" y="34061"/>
                </a:lnTo>
                <a:lnTo>
                  <a:pt x="406" y="341947"/>
                </a:lnTo>
                <a:lnTo>
                  <a:pt x="0" y="343585"/>
                </a:lnTo>
                <a:lnTo>
                  <a:pt x="165" y="345046"/>
                </a:lnTo>
                <a:lnTo>
                  <a:pt x="6235" y="349948"/>
                </a:lnTo>
                <a:lnTo>
                  <a:pt x="6946" y="349923"/>
                </a:lnTo>
                <a:lnTo>
                  <a:pt x="992898" y="172212"/>
                </a:lnTo>
                <a:lnTo>
                  <a:pt x="1030605" y="164007"/>
                </a:lnTo>
                <a:lnTo>
                  <a:pt x="1173149" y="0"/>
                </a:lnTo>
                <a:close/>
              </a:path>
              <a:path w="1362709" h="2031364">
                <a:moveTo>
                  <a:pt x="1362684" y="0"/>
                </a:moveTo>
                <a:lnTo>
                  <a:pt x="1353096" y="0"/>
                </a:lnTo>
                <a:lnTo>
                  <a:pt x="1286916" y="521462"/>
                </a:lnTo>
                <a:lnTo>
                  <a:pt x="788822" y="605434"/>
                </a:lnTo>
                <a:lnTo>
                  <a:pt x="1211884" y="0"/>
                </a:lnTo>
                <a:lnTo>
                  <a:pt x="1196733" y="0"/>
                </a:lnTo>
                <a:lnTo>
                  <a:pt x="814743" y="546531"/>
                </a:lnTo>
                <a:lnTo>
                  <a:pt x="769302" y="611886"/>
                </a:lnTo>
                <a:lnTo>
                  <a:pt x="768946" y="613181"/>
                </a:lnTo>
                <a:lnTo>
                  <a:pt x="768896" y="613968"/>
                </a:lnTo>
                <a:lnTo>
                  <a:pt x="770978" y="630974"/>
                </a:lnTo>
                <a:lnTo>
                  <a:pt x="772147" y="640524"/>
                </a:lnTo>
                <a:lnTo>
                  <a:pt x="861606" y="1371917"/>
                </a:lnTo>
                <a:lnTo>
                  <a:pt x="870559" y="1381709"/>
                </a:lnTo>
                <a:lnTo>
                  <a:pt x="887222" y="1396695"/>
                </a:lnTo>
                <a:lnTo>
                  <a:pt x="1090053" y="1579156"/>
                </a:lnTo>
                <a:lnTo>
                  <a:pt x="1095146" y="1587588"/>
                </a:lnTo>
                <a:lnTo>
                  <a:pt x="1362684" y="2030971"/>
                </a:lnTo>
                <a:lnTo>
                  <a:pt x="1362684" y="2007019"/>
                </a:lnTo>
                <a:lnTo>
                  <a:pt x="1102893" y="1576451"/>
                </a:lnTo>
                <a:lnTo>
                  <a:pt x="1159154" y="1527581"/>
                </a:lnTo>
                <a:lnTo>
                  <a:pt x="1161453" y="1525587"/>
                </a:lnTo>
                <a:lnTo>
                  <a:pt x="1197660" y="1494142"/>
                </a:lnTo>
                <a:lnTo>
                  <a:pt x="1200531" y="1501203"/>
                </a:lnTo>
                <a:lnTo>
                  <a:pt x="1362684" y="1901913"/>
                </a:lnTo>
                <a:lnTo>
                  <a:pt x="1362684" y="1868766"/>
                </a:lnTo>
                <a:lnTo>
                  <a:pt x="1209014" y="1489011"/>
                </a:lnTo>
                <a:lnTo>
                  <a:pt x="1216660" y="1488109"/>
                </a:lnTo>
                <a:lnTo>
                  <a:pt x="1362684" y="1470837"/>
                </a:lnTo>
                <a:lnTo>
                  <a:pt x="1362684" y="1458315"/>
                </a:lnTo>
                <a:lnTo>
                  <a:pt x="1226134" y="1474470"/>
                </a:lnTo>
                <a:lnTo>
                  <a:pt x="1362684" y="1386547"/>
                </a:lnTo>
                <a:lnTo>
                  <a:pt x="1362684" y="1371828"/>
                </a:lnTo>
                <a:lnTo>
                  <a:pt x="1210818" y="1469631"/>
                </a:lnTo>
                <a:lnTo>
                  <a:pt x="1362684" y="952538"/>
                </a:lnTo>
                <a:lnTo>
                  <a:pt x="1362684" y="897826"/>
                </a:lnTo>
                <a:lnTo>
                  <a:pt x="1353959" y="847166"/>
                </a:lnTo>
                <a:lnTo>
                  <a:pt x="1353959" y="920432"/>
                </a:lnTo>
                <a:lnTo>
                  <a:pt x="1351495" y="919099"/>
                </a:lnTo>
                <a:lnTo>
                  <a:pt x="1351495" y="933234"/>
                </a:lnTo>
                <a:lnTo>
                  <a:pt x="1350187" y="934402"/>
                </a:lnTo>
                <a:lnTo>
                  <a:pt x="1350187" y="950976"/>
                </a:lnTo>
                <a:lnTo>
                  <a:pt x="1196060" y="1475828"/>
                </a:lnTo>
                <a:lnTo>
                  <a:pt x="1187945" y="1473073"/>
                </a:lnTo>
                <a:lnTo>
                  <a:pt x="1187945" y="1486192"/>
                </a:lnTo>
                <a:lnTo>
                  <a:pt x="1094943" y="1566887"/>
                </a:lnTo>
                <a:lnTo>
                  <a:pt x="894346" y="1386459"/>
                </a:lnTo>
                <a:lnTo>
                  <a:pt x="1187945" y="1486192"/>
                </a:lnTo>
                <a:lnTo>
                  <a:pt x="1187945" y="1473073"/>
                </a:lnTo>
                <a:lnTo>
                  <a:pt x="879817" y="1368399"/>
                </a:lnTo>
                <a:lnTo>
                  <a:pt x="1321346" y="976579"/>
                </a:lnTo>
                <a:lnTo>
                  <a:pt x="1350187" y="950976"/>
                </a:lnTo>
                <a:lnTo>
                  <a:pt x="1350187" y="934402"/>
                </a:lnTo>
                <a:lnTo>
                  <a:pt x="872439" y="1358341"/>
                </a:lnTo>
                <a:lnTo>
                  <a:pt x="782777" y="625246"/>
                </a:lnTo>
                <a:lnTo>
                  <a:pt x="786828" y="627443"/>
                </a:lnTo>
                <a:lnTo>
                  <a:pt x="1346822" y="930694"/>
                </a:lnTo>
                <a:lnTo>
                  <a:pt x="1351495" y="933234"/>
                </a:lnTo>
                <a:lnTo>
                  <a:pt x="1351495" y="919099"/>
                </a:lnTo>
                <a:lnTo>
                  <a:pt x="793965" y="617169"/>
                </a:lnTo>
                <a:lnTo>
                  <a:pt x="1276985" y="535749"/>
                </a:lnTo>
                <a:lnTo>
                  <a:pt x="1287424" y="533984"/>
                </a:lnTo>
                <a:lnTo>
                  <a:pt x="1289799" y="547801"/>
                </a:lnTo>
                <a:lnTo>
                  <a:pt x="1291234" y="556094"/>
                </a:lnTo>
                <a:lnTo>
                  <a:pt x="1353959" y="920432"/>
                </a:lnTo>
                <a:lnTo>
                  <a:pt x="1353959" y="847166"/>
                </a:lnTo>
                <a:lnTo>
                  <a:pt x="1301330" y="541566"/>
                </a:lnTo>
                <a:lnTo>
                  <a:pt x="1301521" y="541718"/>
                </a:lnTo>
                <a:lnTo>
                  <a:pt x="1362684" y="589203"/>
                </a:lnTo>
                <a:lnTo>
                  <a:pt x="1362684" y="573468"/>
                </a:lnTo>
                <a:lnTo>
                  <a:pt x="1308620" y="531495"/>
                </a:lnTo>
                <a:lnTo>
                  <a:pt x="1362684" y="526199"/>
                </a:lnTo>
                <a:lnTo>
                  <a:pt x="1362684" y="513715"/>
                </a:lnTo>
                <a:lnTo>
                  <a:pt x="1309903" y="518883"/>
                </a:lnTo>
                <a:lnTo>
                  <a:pt x="1362684" y="468871"/>
                </a:lnTo>
                <a:lnTo>
                  <a:pt x="1362684" y="451777"/>
                </a:lnTo>
                <a:lnTo>
                  <a:pt x="1300848" y="510362"/>
                </a:lnTo>
                <a:lnTo>
                  <a:pt x="1362684" y="23202"/>
                </a:lnTo>
                <a:lnTo>
                  <a:pt x="1362684" y="0"/>
                </a:lnTo>
                <a:close/>
              </a:path>
            </a:pathLst>
          </a:custGeom>
          <a:solidFill>
            <a:srgbClr val="E8F1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38313" y="297424"/>
            <a:ext cx="1085849" cy="108584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01304" y="457712"/>
            <a:ext cx="1219199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25087" y="1915460"/>
            <a:ext cx="6196965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C2CCF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2251" y="2067376"/>
            <a:ext cx="16263497" cy="659449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3600" b="1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TEAM</a:t>
            </a:r>
            <a:r>
              <a:rPr sz="3600" b="1" spc="-195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 </a:t>
            </a:r>
            <a:r>
              <a:rPr sz="3600" b="1" spc="5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NAME</a:t>
            </a:r>
            <a:r>
              <a:rPr sz="3600" b="1" spc="-19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 </a:t>
            </a:r>
            <a:r>
              <a:rPr sz="4400" b="1" spc="-665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:</a:t>
            </a:r>
            <a:r>
              <a:rPr lang="en-US" sz="4400" b="1" spc="-665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  </a:t>
            </a:r>
            <a:r>
              <a:rPr lang="en-US" sz="4400" spc="-665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C O D E 4 C E S</a:t>
            </a:r>
            <a:endParaRPr sz="4400" dirty="0">
              <a:latin typeface="Lucida Bright" panose="02040602050505020304" pitchFamily="18" charset="0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1390"/>
              </a:spcBef>
            </a:pPr>
            <a:r>
              <a:rPr sz="3600" b="1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T</a:t>
            </a:r>
            <a:r>
              <a:rPr lang="en-IN" sz="3600" b="1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EAM LEADER NAME</a:t>
            </a:r>
            <a:r>
              <a:rPr sz="4400" b="1" spc="-5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: </a:t>
            </a:r>
            <a:r>
              <a:rPr lang="en-US" sz="4400" b="1" spc="-5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ARHI ARHA SUDHAN S</a:t>
            </a:r>
          </a:p>
          <a:p>
            <a:pPr marL="12700" marR="5080">
              <a:lnSpc>
                <a:spcPct val="150000"/>
              </a:lnSpc>
              <a:spcBef>
                <a:spcPts val="1390"/>
              </a:spcBef>
            </a:pPr>
            <a:r>
              <a:rPr lang="en-US" sz="4400" b="1" dirty="0">
                <a:solidFill>
                  <a:schemeClr val="bg1"/>
                </a:solidFill>
                <a:latin typeface="Lucida Bright" panose="02040602050505020304" pitchFamily="18" charset="0"/>
              </a:rPr>
              <a:t>Project Name:</a:t>
            </a:r>
            <a:r>
              <a:rPr lang="en-US" sz="4400" dirty="0">
                <a:solidFill>
                  <a:schemeClr val="bg1"/>
                </a:solidFill>
                <a:latin typeface="Lucida Bright" panose="02040602050505020304" pitchFamily="18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Lucida Bright" panose="02040602050505020304" pitchFamily="18" charset="0"/>
              </a:rPr>
              <a:t>NexusEdu</a:t>
            </a:r>
            <a:br>
              <a:rPr lang="en-US" sz="4400" dirty="0">
                <a:solidFill>
                  <a:schemeClr val="bg1"/>
                </a:solidFill>
                <a:latin typeface="Lucida Bright" panose="02040602050505020304" pitchFamily="18" charset="0"/>
              </a:rPr>
            </a:br>
            <a:r>
              <a:rPr lang="en-US" sz="4400" dirty="0">
                <a:solidFill>
                  <a:schemeClr val="bg1"/>
                </a:solidFill>
                <a:latin typeface="Lucida Bright" panose="02040602050505020304" pitchFamily="18" charset="0"/>
              </a:rPr>
              <a:t>		</a:t>
            </a:r>
            <a:r>
              <a:rPr lang="en-US" sz="4400" b="1" dirty="0">
                <a:solidFill>
                  <a:schemeClr val="bg1"/>
                </a:solidFill>
                <a:latin typeface="Lucida Bright" panose="02040602050505020304" pitchFamily="18" charset="0"/>
              </a:rPr>
              <a:t>[</a:t>
            </a:r>
            <a:r>
              <a:rPr lang="en-US" sz="4400" dirty="0">
                <a:solidFill>
                  <a:schemeClr val="bg1"/>
                </a:solidFill>
                <a:latin typeface="Lucida Bright" panose="02040602050505020304" pitchFamily="18" charset="0"/>
              </a:rPr>
              <a:t>Smart Academic &amp; Opportunity Management Platform]</a:t>
            </a:r>
            <a:endParaRPr lang="en-IN" sz="4400" b="1" spc="-50" dirty="0">
              <a:solidFill>
                <a:schemeClr val="bg1"/>
              </a:solidFill>
              <a:latin typeface="Lucida Bright" panose="02040602050505020304" pitchFamily="18" charset="0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1390"/>
              </a:spcBef>
            </a:pPr>
            <a:r>
              <a:rPr lang="en-IN" sz="4000" b="1" spc="-5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PROBLEM STATEMENT TITLE</a:t>
            </a:r>
            <a:r>
              <a:rPr sz="4800" b="1" spc="-1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:</a:t>
            </a:r>
            <a:r>
              <a:rPr lang="en-US" sz="4400" b="1" spc="-1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 </a:t>
            </a:r>
            <a:r>
              <a:rPr lang="en-US" sz="3600" b="1" spc="-10" dirty="0">
                <a:solidFill>
                  <a:srgbClr val="E8F1F6"/>
                </a:solidFill>
                <a:latin typeface="Lucida Bright" panose="02040602050505020304" pitchFamily="18" charset="0"/>
                <a:cs typeface="Trebuchet MS"/>
              </a:rPr>
              <a:t>UNIVERSITY ERP SYSTEM</a:t>
            </a:r>
            <a:endParaRPr lang="en-IN" sz="4400" b="1" dirty="0">
              <a:solidFill>
                <a:schemeClr val="bg1"/>
              </a:solidFill>
              <a:latin typeface="Lucida Bright" panose="020406020505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344477-F405-33C5-BF01-95CCB7116092}"/>
              </a:ext>
            </a:extLst>
          </p:cNvPr>
          <p:cNvSpPr/>
          <p:nvPr/>
        </p:nvSpPr>
        <p:spPr>
          <a:xfrm>
            <a:off x="6982428" y="265471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14104" y="813763"/>
            <a:ext cx="541330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E8F1F6"/>
                </a:solidFill>
              </a:rPr>
              <a:t>Zenith Hackathon</a:t>
            </a:r>
            <a:endParaRPr spc="-70" dirty="0">
              <a:solidFill>
                <a:srgbClr val="E8F1F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4AA660-F2CB-B486-89A1-697133076796}"/>
              </a:ext>
            </a:extLst>
          </p:cNvPr>
          <p:cNvSpPr/>
          <p:nvPr/>
        </p:nvSpPr>
        <p:spPr>
          <a:xfrm>
            <a:off x="6923434" y="288083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4799" y="619395"/>
            <a:ext cx="61969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PROBLEM</a:t>
            </a:r>
            <a:r>
              <a:rPr spc="-55" dirty="0"/>
              <a:t> </a:t>
            </a:r>
            <a:r>
              <a:rPr spc="-130" dirty="0"/>
              <a:t>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DF88B-85D5-0527-2718-61BAC8819DBC}"/>
              </a:ext>
            </a:extLst>
          </p:cNvPr>
          <p:cNvSpPr txBox="1"/>
          <p:nvPr/>
        </p:nvSpPr>
        <p:spPr>
          <a:xfrm>
            <a:off x="612321" y="1873008"/>
            <a:ext cx="13007865" cy="79714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Many colleges use ERP systems to manage attendance, marks, and notices.</a:t>
            </a:r>
          </a:p>
          <a:p>
            <a:endParaRPr lang="en-US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But students still face problems: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They miss opportunities like internships </a:t>
            </a:r>
          </a:p>
          <a:p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    and hackathons.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They don’t know eligibility rules.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Important notices get lost.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No guidance based on student skills.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Everything is manual and reactive.</a:t>
            </a:r>
          </a:p>
          <a:p>
            <a:endParaRPr lang="en-US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Because of this: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Students miss growth opportunities.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Colleges cannot track skill development.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Academic risk is identified too late.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984A4-B6C0-BC88-EE31-E793361BA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774" y="2887372"/>
            <a:ext cx="7670824" cy="59426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596DDC-E508-E385-9245-030692A918DE}"/>
              </a:ext>
            </a:extLst>
          </p:cNvPr>
          <p:cNvSpPr txBox="1"/>
          <p:nvPr/>
        </p:nvSpPr>
        <p:spPr>
          <a:xfrm>
            <a:off x="2948241" y="2107626"/>
            <a:ext cx="11547988" cy="6494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Student-Centric Intelligent ERP</a:t>
            </a:r>
            <a:endParaRPr lang="en-IN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</a:t>
            </a:r>
            <a:r>
              <a:rPr lang="en-IN" sz="2800" dirty="0" err="1">
                <a:solidFill>
                  <a:schemeClr val="bg1"/>
                </a:solidFill>
                <a:latin typeface="Lucida Bright" panose="02040602050505020304" pitchFamily="18" charset="0"/>
              </a:rPr>
              <a:t>NexusEdu</a:t>
            </a:r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 integrates academic records, institutional policies, student skills, and opportunities into a centralized platform.</a:t>
            </a:r>
          </a:p>
          <a:p>
            <a:r>
              <a:rPr lang="en-IN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Core System Capabilities</a:t>
            </a:r>
            <a:endParaRPr lang="en-IN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Academic tracking &amp; eligibility monitoring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AI academic assistant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Opportunity visibility &amp; structured communication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Achievement tracking &amp; motivation support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Faculty curriculum insights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Inter-college collaboration</a:t>
            </a:r>
          </a:p>
          <a:p>
            <a:r>
              <a:rPr lang="en-IN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The system transforms ERP from passive record storage into an active academic guidance platform.</a:t>
            </a:r>
          </a:p>
          <a:p>
            <a:endParaRPr lang="en-US" sz="3200" dirty="0">
              <a:solidFill>
                <a:schemeClr val="bg1"/>
              </a:solidFill>
              <a:latin typeface="Lucida Bright" panose="02040602050505020304" pitchFamily="18" charset="0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7A95A-BB14-EEBB-B64D-2F56E4212EBC}"/>
              </a:ext>
            </a:extLst>
          </p:cNvPr>
          <p:cNvSpPr/>
          <p:nvPr/>
        </p:nvSpPr>
        <p:spPr>
          <a:xfrm>
            <a:off x="6522007" y="265300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Lucida Bright" panose="020406020505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48241" y="767425"/>
            <a:ext cx="1328286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Lucida Bright" panose="02040602050505020304" pitchFamily="18" charset="0"/>
              </a:rPr>
              <a:t>The Solution – </a:t>
            </a:r>
            <a:r>
              <a:rPr lang="en-US" sz="4800" dirty="0" err="1">
                <a:solidFill>
                  <a:schemeClr val="bg1"/>
                </a:solidFill>
                <a:latin typeface="Lucida Bright" panose="02040602050505020304" pitchFamily="18" charset="0"/>
              </a:rPr>
              <a:t>NexusEdu</a:t>
            </a:r>
            <a:r>
              <a:rPr lang="en-US" sz="4800" dirty="0">
                <a:solidFill>
                  <a:schemeClr val="bg1"/>
                </a:solidFill>
                <a:latin typeface="Lucida Bright" panose="02040602050505020304" pitchFamily="18" charset="0"/>
              </a:rPr>
              <a:t> Orchestrator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9F8F-5500-AC4F-47E2-4D989428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599" y="1180530"/>
            <a:ext cx="8178369" cy="677108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Work Flow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7E1AD-6DA9-13D8-72F9-C7C73131A859}"/>
              </a:ext>
            </a:extLst>
          </p:cNvPr>
          <p:cNvSpPr txBox="1"/>
          <p:nvPr/>
        </p:nvSpPr>
        <p:spPr>
          <a:xfrm>
            <a:off x="803399" y="2204495"/>
            <a:ext cx="834060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Step 1: College uploads data</a:t>
            </a:r>
          </a:p>
          <a:p>
            <a:pPr lvl="2"/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Attendance</a:t>
            </a:r>
          </a:p>
          <a:p>
            <a:pPr lvl="2"/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Marks</a:t>
            </a:r>
          </a:p>
          <a:p>
            <a:pPr lvl="2"/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Policies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Opportunities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Step 2: Data is stored securely in the system.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Step 3: AI analyzes the data.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Step 4: Students get: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Eligibility alerts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Opportunity recommendations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	Academic warnings</a:t>
            </a:r>
          </a:p>
          <a:p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Step 5: Admin monitors overall performance.</a:t>
            </a:r>
          </a:p>
          <a:p>
            <a:endParaRPr lang="en-US" sz="2800" dirty="0">
              <a:solidFill>
                <a:schemeClr val="bg1"/>
              </a:solidFill>
              <a:latin typeface="Lucida Bright" panose="020406020505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8A807F-B0B8-9424-D8E2-F4C2BF8DE66F}"/>
              </a:ext>
            </a:extLst>
          </p:cNvPr>
          <p:cNvSpPr/>
          <p:nvPr/>
        </p:nvSpPr>
        <p:spPr>
          <a:xfrm>
            <a:off x="6982428" y="265471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1E4E5-297B-F687-E342-A88A4661D4D6}"/>
              </a:ext>
            </a:extLst>
          </p:cNvPr>
          <p:cNvSpPr txBox="1"/>
          <p:nvPr/>
        </p:nvSpPr>
        <p:spPr>
          <a:xfrm>
            <a:off x="9438968" y="2204495"/>
            <a:ext cx="81783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Layered Architecture Design</a:t>
            </a:r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Role Layer: Students, Faculty, Admins, Super 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Frontend: Web dashboards for all stakeholders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Backend: API orchestration &amp; business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AI Layer: Academic assistant &amp; predictive 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Database: Academic, policy, and opportunity datasets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Technology Stack</a:t>
            </a:r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React + Tailwind (Frontend)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</a:rPr>
              <a:t>FastAPI</a:t>
            </a:r>
            <a:r>
              <a:rPr lang="en-IN" sz="2400" dirty="0">
                <a:solidFill>
                  <a:schemeClr val="bg1"/>
                </a:solidFill>
              </a:rPr>
              <a:t> (Backend)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PostgreSQL + Redis (Database &amp; caching)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Gemini API (AI processing)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Docker + Cloud hosting (Deployment)</a:t>
            </a:r>
          </a:p>
          <a:p>
            <a:r>
              <a:rPr lang="en-IN" sz="2400" dirty="0">
                <a:solidFill>
                  <a:schemeClr val="bg1"/>
                </a:solidFill>
              </a:rPr>
              <a:t>This ensures scalability, modularity, and multi-institution readiness.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4A56AE-C2B6-BDC8-67D7-6AF390770FB2}"/>
              </a:ext>
            </a:extLst>
          </p:cNvPr>
          <p:cNvSpPr txBox="1">
            <a:spLocks/>
          </p:cNvSpPr>
          <p:nvPr/>
        </p:nvSpPr>
        <p:spPr>
          <a:xfrm>
            <a:off x="9604419" y="1180530"/>
            <a:ext cx="8178369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C2CCF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76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1796" y="4418485"/>
            <a:ext cx="61969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7090">
              <a:lnSpc>
                <a:spcPct val="100000"/>
              </a:lnSpc>
              <a:spcBef>
                <a:spcPts val="100"/>
              </a:spcBef>
            </a:pPr>
            <a:r>
              <a:rPr spc="-100"/>
              <a:t>ARCHITECTURE</a:t>
            </a:r>
          </a:p>
        </p:txBody>
      </p:sp>
      <p:pic>
        <p:nvPicPr>
          <p:cNvPr id="6" name="Picture 5" descr="A diagram of a cloud hosting&#10;&#10;AI-generated content may be incorrect.">
            <a:extLst>
              <a:ext uri="{FF2B5EF4-FFF2-40B4-BE49-F238E27FC236}">
                <a16:creationId xmlns:a16="http://schemas.microsoft.com/office/drawing/2014/main" id="{E76FDBD2-3917-C5BE-8DC6-7D2C5905A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149" y="1626725"/>
            <a:ext cx="7973992" cy="80029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6F1A6D3-7931-5C57-B3FB-FE795AC9B634}"/>
              </a:ext>
            </a:extLst>
          </p:cNvPr>
          <p:cNvSpPr/>
          <p:nvPr/>
        </p:nvSpPr>
        <p:spPr>
          <a:xfrm>
            <a:off x="6982428" y="265471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64072" y="1865034"/>
            <a:ext cx="619696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3970">
              <a:lnSpc>
                <a:spcPct val="100000"/>
              </a:lnSpc>
              <a:spcBef>
                <a:spcPts val="100"/>
              </a:spcBef>
            </a:pPr>
            <a:r>
              <a:rPr spc="-190"/>
              <a:t>TECH</a:t>
            </a:r>
            <a:r>
              <a:rPr spc="-125"/>
              <a:t> </a:t>
            </a:r>
            <a:r>
              <a:rPr spc="-20"/>
              <a:t>ST</a:t>
            </a:r>
            <a:r>
              <a:rPr lang="en-IN" spc="-20"/>
              <a:t>A</a:t>
            </a:r>
            <a:r>
              <a:rPr spc="-20"/>
              <a:t>CK</a:t>
            </a:r>
          </a:p>
        </p:txBody>
      </p:sp>
      <p:sp>
        <p:nvSpPr>
          <p:cNvPr id="6" name="Freeform 2" descr="A black and white logo&#10;&#10;AI-generated content may be incorrect.">
            <a:extLst>
              <a:ext uri="{FF2B5EF4-FFF2-40B4-BE49-F238E27FC236}">
                <a16:creationId xmlns:a16="http://schemas.microsoft.com/office/drawing/2014/main" id="{E6549B9C-871E-C7E4-AA1D-16C3B3DCF43D}"/>
              </a:ext>
            </a:extLst>
          </p:cNvPr>
          <p:cNvSpPr/>
          <p:nvPr/>
        </p:nvSpPr>
        <p:spPr>
          <a:xfrm>
            <a:off x="4972710" y="1391187"/>
            <a:ext cx="4493705" cy="1302593"/>
          </a:xfrm>
          <a:custGeom>
            <a:avLst/>
            <a:gdLst/>
            <a:ahLst/>
            <a:cxnLst/>
            <a:rect l="l" t="t" r="r" b="b"/>
            <a:pathLst>
              <a:path w="4493705" h="1302593">
                <a:moveTo>
                  <a:pt x="0" y="0"/>
                </a:moveTo>
                <a:lnTo>
                  <a:pt x="4493705" y="0"/>
                </a:lnTo>
                <a:lnTo>
                  <a:pt x="4493705" y="1302593"/>
                </a:lnTo>
                <a:lnTo>
                  <a:pt x="0" y="1302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195" r="-6786" b="-49122"/>
            </a:stretch>
          </a:blipFill>
        </p:spPr>
      </p:sp>
      <p:sp>
        <p:nvSpPr>
          <p:cNvPr id="8" name="Freeform 3" descr="A blue diamond with white text&#10;&#10;AI-generated content may be incorrect.">
            <a:extLst>
              <a:ext uri="{FF2B5EF4-FFF2-40B4-BE49-F238E27FC236}">
                <a16:creationId xmlns:a16="http://schemas.microsoft.com/office/drawing/2014/main" id="{DC9B1ACD-2EA6-85D5-A362-402CF8161310}"/>
              </a:ext>
            </a:extLst>
          </p:cNvPr>
          <p:cNvSpPr/>
          <p:nvPr/>
        </p:nvSpPr>
        <p:spPr>
          <a:xfrm>
            <a:off x="8869505" y="3358072"/>
            <a:ext cx="4142226" cy="1885109"/>
          </a:xfrm>
          <a:custGeom>
            <a:avLst/>
            <a:gdLst/>
            <a:ahLst/>
            <a:cxnLst/>
            <a:rect l="l" t="t" r="r" b="b"/>
            <a:pathLst>
              <a:path w="4142226" h="1885109">
                <a:moveTo>
                  <a:pt x="0" y="0"/>
                </a:moveTo>
                <a:lnTo>
                  <a:pt x="4142226" y="0"/>
                </a:lnTo>
                <a:lnTo>
                  <a:pt x="4142226" y="1885109"/>
                </a:lnTo>
                <a:lnTo>
                  <a:pt x="0" y="1885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873" t="-21272" r="-68888" b="-33432"/>
            </a:stretch>
          </a:blipFill>
        </p:spPr>
      </p:sp>
      <p:sp>
        <p:nvSpPr>
          <p:cNvPr id="10" name="Freeform 4" descr="A red logo with white text&#10;&#10;AI-generated content may be incorrect.">
            <a:extLst>
              <a:ext uri="{FF2B5EF4-FFF2-40B4-BE49-F238E27FC236}">
                <a16:creationId xmlns:a16="http://schemas.microsoft.com/office/drawing/2014/main" id="{1E0BFBE1-8D59-6577-D94F-C3BF10D2800D}"/>
              </a:ext>
            </a:extLst>
          </p:cNvPr>
          <p:cNvSpPr/>
          <p:nvPr/>
        </p:nvSpPr>
        <p:spPr>
          <a:xfrm>
            <a:off x="8760651" y="5339821"/>
            <a:ext cx="4359934" cy="1603212"/>
          </a:xfrm>
          <a:custGeom>
            <a:avLst/>
            <a:gdLst/>
            <a:ahLst/>
            <a:cxnLst/>
            <a:rect l="l" t="t" r="r" b="b"/>
            <a:pathLst>
              <a:path w="4359934" h="1603212">
                <a:moveTo>
                  <a:pt x="0" y="0"/>
                </a:moveTo>
                <a:lnTo>
                  <a:pt x="4359934" y="0"/>
                </a:lnTo>
                <a:lnTo>
                  <a:pt x="4359934" y="1603212"/>
                </a:lnTo>
                <a:lnTo>
                  <a:pt x="0" y="1603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6774" b="-44195"/>
            </a:stretch>
          </a:blipFill>
        </p:spPr>
      </p:sp>
      <p:sp>
        <p:nvSpPr>
          <p:cNvPr id="12" name="Freeform 6" descr="A close-up of a logo&#10;&#10;AI-generated content may be incorrect.">
            <a:extLst>
              <a:ext uri="{FF2B5EF4-FFF2-40B4-BE49-F238E27FC236}">
                <a16:creationId xmlns:a16="http://schemas.microsoft.com/office/drawing/2014/main" id="{7B205D29-45F4-1BD1-90A9-01962C4235E2}"/>
              </a:ext>
            </a:extLst>
          </p:cNvPr>
          <p:cNvSpPr/>
          <p:nvPr/>
        </p:nvSpPr>
        <p:spPr>
          <a:xfrm>
            <a:off x="3149916" y="4324400"/>
            <a:ext cx="3573136" cy="1289768"/>
          </a:xfrm>
          <a:custGeom>
            <a:avLst/>
            <a:gdLst/>
            <a:ahLst/>
            <a:cxnLst/>
            <a:rect l="l" t="t" r="r" b="b"/>
            <a:pathLst>
              <a:path w="3573136" h="1289768">
                <a:moveTo>
                  <a:pt x="0" y="0"/>
                </a:moveTo>
                <a:lnTo>
                  <a:pt x="3573136" y="0"/>
                </a:lnTo>
                <a:lnTo>
                  <a:pt x="3573136" y="1289768"/>
                </a:lnTo>
                <a:lnTo>
                  <a:pt x="0" y="1289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0" name="Group 10">
            <a:extLst>
              <a:ext uri="{FF2B5EF4-FFF2-40B4-BE49-F238E27FC236}">
                <a16:creationId xmlns:a16="http://schemas.microsoft.com/office/drawing/2014/main" id="{713BF134-92F8-9964-C183-E0107B337D60}"/>
              </a:ext>
            </a:extLst>
          </p:cNvPr>
          <p:cNvGrpSpPr/>
          <p:nvPr/>
        </p:nvGrpSpPr>
        <p:grpSpPr>
          <a:xfrm>
            <a:off x="13937920" y="4989197"/>
            <a:ext cx="3651880" cy="3585484"/>
            <a:chOff x="0" y="0"/>
            <a:chExt cx="4869175" cy="4780644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B8F53A72-5926-AA2B-3845-475C001CAA45}"/>
                </a:ext>
              </a:extLst>
            </p:cNvPr>
            <p:cNvSpPr/>
            <p:nvPr/>
          </p:nvSpPr>
          <p:spPr>
            <a:xfrm>
              <a:off x="812493" y="1618536"/>
              <a:ext cx="3244190" cy="1816746"/>
            </a:xfrm>
            <a:custGeom>
              <a:avLst/>
              <a:gdLst/>
              <a:ahLst/>
              <a:cxnLst/>
              <a:rect l="l" t="t" r="r" b="b"/>
              <a:pathLst>
                <a:path w="3244190" h="1816746">
                  <a:moveTo>
                    <a:pt x="0" y="0"/>
                  </a:moveTo>
                  <a:lnTo>
                    <a:pt x="3244189" y="0"/>
                  </a:lnTo>
                  <a:lnTo>
                    <a:pt x="3244189" y="1816746"/>
                  </a:lnTo>
                  <a:lnTo>
                    <a:pt x="0" y="1816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B90FC407-329D-36AE-7A67-23929300F1C1}"/>
                </a:ext>
              </a:extLst>
            </p:cNvPr>
            <p:cNvSpPr/>
            <p:nvPr/>
          </p:nvSpPr>
          <p:spPr>
            <a:xfrm>
              <a:off x="0" y="0"/>
              <a:ext cx="4869175" cy="4780644"/>
            </a:xfrm>
            <a:custGeom>
              <a:avLst/>
              <a:gdLst/>
              <a:ahLst/>
              <a:cxnLst/>
              <a:rect l="l" t="t" r="r" b="b"/>
              <a:pathLst>
                <a:path w="4869175" h="4780644">
                  <a:moveTo>
                    <a:pt x="0" y="0"/>
                  </a:moveTo>
                  <a:lnTo>
                    <a:pt x="4869175" y="0"/>
                  </a:lnTo>
                  <a:lnTo>
                    <a:pt x="4869175" y="4780644"/>
                  </a:lnTo>
                  <a:lnTo>
                    <a:pt x="0" y="4780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2" name="Freeform 13">
            <a:extLst>
              <a:ext uri="{FF2B5EF4-FFF2-40B4-BE49-F238E27FC236}">
                <a16:creationId xmlns:a16="http://schemas.microsoft.com/office/drawing/2014/main" id="{ECA53DD1-40BB-5F71-8CA9-00DC1785E268}"/>
              </a:ext>
            </a:extLst>
          </p:cNvPr>
          <p:cNvSpPr/>
          <p:nvPr/>
        </p:nvSpPr>
        <p:spPr>
          <a:xfrm rot="5400000">
            <a:off x="4272192" y="2970367"/>
            <a:ext cx="1328585" cy="775411"/>
          </a:xfrm>
          <a:custGeom>
            <a:avLst/>
            <a:gdLst/>
            <a:ahLst/>
            <a:cxnLst/>
            <a:rect l="l" t="t" r="r" b="b"/>
            <a:pathLst>
              <a:path w="1328585" h="775411">
                <a:moveTo>
                  <a:pt x="0" y="0"/>
                </a:moveTo>
                <a:lnTo>
                  <a:pt x="1328585" y="0"/>
                </a:lnTo>
                <a:lnTo>
                  <a:pt x="1328585" y="775411"/>
                </a:lnTo>
                <a:lnTo>
                  <a:pt x="0" y="7754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5EB750F3-0933-BE60-415B-DE509AA544BE}"/>
              </a:ext>
            </a:extLst>
          </p:cNvPr>
          <p:cNvSpPr/>
          <p:nvPr/>
        </p:nvSpPr>
        <p:spPr>
          <a:xfrm>
            <a:off x="7219563" y="4550032"/>
            <a:ext cx="1353221" cy="789789"/>
          </a:xfrm>
          <a:custGeom>
            <a:avLst/>
            <a:gdLst/>
            <a:ahLst/>
            <a:cxnLst/>
            <a:rect l="l" t="t" r="r" b="b"/>
            <a:pathLst>
              <a:path w="1353221" h="789789">
                <a:moveTo>
                  <a:pt x="0" y="0"/>
                </a:moveTo>
                <a:lnTo>
                  <a:pt x="1353221" y="0"/>
                </a:lnTo>
                <a:lnTo>
                  <a:pt x="1353221" y="789789"/>
                </a:lnTo>
                <a:lnTo>
                  <a:pt x="0" y="7897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24777223-9067-CA47-EC23-98EC3F5D422E}"/>
              </a:ext>
            </a:extLst>
          </p:cNvPr>
          <p:cNvSpPr/>
          <p:nvPr/>
        </p:nvSpPr>
        <p:spPr>
          <a:xfrm rot="5400000">
            <a:off x="10612028" y="7058526"/>
            <a:ext cx="1328585" cy="775411"/>
          </a:xfrm>
          <a:custGeom>
            <a:avLst/>
            <a:gdLst/>
            <a:ahLst/>
            <a:cxnLst/>
            <a:rect l="l" t="t" r="r" b="b"/>
            <a:pathLst>
              <a:path w="1328585" h="775411">
                <a:moveTo>
                  <a:pt x="0" y="0"/>
                </a:moveTo>
                <a:lnTo>
                  <a:pt x="1328585" y="0"/>
                </a:lnTo>
                <a:lnTo>
                  <a:pt x="1328585" y="775410"/>
                </a:lnTo>
                <a:lnTo>
                  <a:pt x="0" y="7754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pic>
        <p:nvPicPr>
          <p:cNvPr id="32" name="Picture 31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CFF5BE2-AA4F-DF4C-D973-EDDE930E58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680" y="521411"/>
            <a:ext cx="4155140" cy="2571077"/>
          </a:xfrm>
          <a:prstGeom prst="rect">
            <a:avLst/>
          </a:prstGeom>
        </p:spPr>
      </p:pic>
      <p:pic>
        <p:nvPicPr>
          <p:cNvPr id="34" name="Picture 33" descr="A logo of an elephant&#10;&#10;AI-generated content may be incorrect.">
            <a:extLst>
              <a:ext uri="{FF2B5EF4-FFF2-40B4-BE49-F238E27FC236}">
                <a16:creationId xmlns:a16="http://schemas.microsoft.com/office/drawing/2014/main" id="{7CB3AABF-8E1D-7C62-FDBF-E632CE17329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59253" y="7974106"/>
            <a:ext cx="2238936" cy="23061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464EA4-2EB8-A2D2-2AC7-9DD9AC574079}"/>
              </a:ext>
            </a:extLst>
          </p:cNvPr>
          <p:cNvSpPr/>
          <p:nvPr/>
        </p:nvSpPr>
        <p:spPr>
          <a:xfrm>
            <a:off x="6982428" y="265471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C716C-EC50-29DC-E647-FB4F1B6A9565}"/>
              </a:ext>
            </a:extLst>
          </p:cNvPr>
          <p:cNvSpPr txBox="1"/>
          <p:nvPr/>
        </p:nvSpPr>
        <p:spPr>
          <a:xfrm>
            <a:off x="1190249" y="527334"/>
            <a:ext cx="5792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Lucida Bright" panose="02040602050505020304" pitchFamily="18" charset="0"/>
              </a:rPr>
              <a:t>Tech Stack</a:t>
            </a:r>
            <a:endParaRPr lang="en-IN" sz="4400" dirty="0">
              <a:solidFill>
                <a:schemeClr val="bg1"/>
              </a:solidFill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5F46E9-5F29-EB19-EFB2-40FFE4143FE2}"/>
              </a:ext>
            </a:extLst>
          </p:cNvPr>
          <p:cNvSpPr txBox="1"/>
          <p:nvPr/>
        </p:nvSpPr>
        <p:spPr>
          <a:xfrm>
            <a:off x="706080" y="2021209"/>
            <a:ext cx="17122533" cy="64325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AI Academic Assistant</a:t>
            </a:r>
            <a:b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Interactive chatbot that answers queries on attendance, eligibility, and performance while guiding study improvement.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Curriculum Predictor</a:t>
            </a:r>
            <a:b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Analyzes academic trends to support faculty in data-driven course planning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Achievement &amp; Motivation System</a:t>
            </a:r>
            <a:b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Tracks accomplishments, sends reminders, and recommends relevant competitions.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Opportunity-Aware Communication Feed (Key Innovation)</a:t>
            </a:r>
            <a:b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Structures internships, hackathons, and scholarships into a dedicated ERP feed instead of emails. Ensures visibility, eligibility filtering, and engagement tracking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Inter-College Collaboration Hub</a:t>
            </a:r>
            <a:b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Lucida Bright" panose="02040602050505020304" pitchFamily="18" charset="0"/>
              </a:rPr>
              <a:t>Admin-controlled platform enabling cross-college projects and academic partnerships.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4126A-8DDC-B419-B641-CB5F2C704655}"/>
              </a:ext>
            </a:extLst>
          </p:cNvPr>
          <p:cNvSpPr/>
          <p:nvPr/>
        </p:nvSpPr>
        <p:spPr>
          <a:xfrm>
            <a:off x="6982428" y="265471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44218" y="767596"/>
            <a:ext cx="1297004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The </a:t>
            </a:r>
            <a:r>
              <a:rPr lang="en-US" sz="4800" dirty="0" err="1">
                <a:solidFill>
                  <a:schemeClr val="bg1"/>
                </a:solidFill>
              </a:rPr>
              <a:t>NexusEdu</a:t>
            </a:r>
            <a:r>
              <a:rPr lang="en-US" sz="4800" dirty="0">
                <a:solidFill>
                  <a:schemeClr val="bg1"/>
                </a:solidFill>
              </a:rPr>
              <a:t> Edge – Engineering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AA455-2522-A8B6-681E-8561E7D8681A}"/>
              </a:ext>
            </a:extLst>
          </p:cNvPr>
          <p:cNvSpPr txBox="1"/>
          <p:nvPr/>
        </p:nvSpPr>
        <p:spPr>
          <a:xfrm>
            <a:off x="2486525" y="1943064"/>
            <a:ext cx="13334999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1.Rapid Deployment: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Our "One-Click Onboarding" removes technical barriers, allowing a university to go fully operational in </a:t>
            </a: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under 10 minutes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with zero local server costs.</a:t>
            </a: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The Sharing Economy: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AI-powered inter-college exchanges reduce infrastructure duplication, allowing institutions to share high-cost lab equipment and faculty expertise, cutting overhead by up to </a:t>
            </a: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30%.</a:t>
            </a:r>
          </a:p>
          <a:p>
            <a:endParaRPr lang="en-US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2. Student Success: The "Zero-Surprise" Policy</a:t>
            </a: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Predictive Retention: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Real-time eligibility tracking and AI study plans eliminate "exam-day disqualification" and improve overall learning outcomes by identifying student struggles early.</a:t>
            </a: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Career Catalyst: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By filtering and pinning life-changing hackathons and internships, we ensure a </a:t>
            </a: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100% visibility rate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for growth opportunities that students previously missed.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B7FF9-E540-515B-3CDC-8AD9B06B720B}"/>
              </a:ext>
            </a:extLst>
          </p:cNvPr>
          <p:cNvSpPr/>
          <p:nvPr/>
        </p:nvSpPr>
        <p:spPr>
          <a:xfrm>
            <a:off x="6982428" y="265471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19609" y="522725"/>
            <a:ext cx="133149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Lucida Bright" panose="02040602050505020304" pitchFamily="18" charset="0"/>
              </a:rPr>
              <a:t>Delivering Measurable Institutional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37DEB5-F2EB-0023-1342-4D35C30FA008}"/>
              </a:ext>
            </a:extLst>
          </p:cNvPr>
          <p:cNvSpPr txBox="1"/>
          <p:nvPr/>
        </p:nvSpPr>
        <p:spPr>
          <a:xfrm>
            <a:off x="1756611" y="2863516"/>
            <a:ext cx="1482290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3. Administrative Excellence: Automated Governance</a:t>
            </a: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Faculty Empowerment: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By automating routine monitoring and early-risk alerts, we reduce administrative load, allowing faculty to focus on </a:t>
            </a: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mentorship rather than paperwork.</a:t>
            </a:r>
            <a:endParaRPr lang="en-US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Audit-Ready Governance: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Centralized, immutable records of attendance and performance provide a "Single Source of Truth," making accreditation and compliance reporting seamless and error-free.</a:t>
            </a:r>
          </a:p>
          <a:p>
            <a:endParaRPr lang="en-US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4. Future-Proof Scalability</a:t>
            </a:r>
          </a:p>
          <a:p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Secure Growth: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Our Multi-tenant architecture isn't just a database; it’s a </a:t>
            </a:r>
            <a:r>
              <a:rPr lang="en-US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SaaS Framework.</a:t>
            </a:r>
            <a:r>
              <a:rPr lang="en-US" sz="3200" dirty="0">
                <a:solidFill>
                  <a:schemeClr val="bg1"/>
                </a:solidFill>
                <a:latin typeface="Lucida Bright" panose="02040602050505020304" pitchFamily="18" charset="0"/>
              </a:rPr>
              <a:t> It is built to scale from one department to an entire national university network without compromising speed or security.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A19A72-3FE7-5143-6855-F9A9F90C3C7A}"/>
              </a:ext>
            </a:extLst>
          </p:cNvPr>
          <p:cNvSpPr/>
          <p:nvPr/>
        </p:nvSpPr>
        <p:spPr>
          <a:xfrm>
            <a:off x="6982428" y="265471"/>
            <a:ext cx="5243985" cy="1253613"/>
          </a:xfrm>
          <a:prstGeom prst="rect">
            <a:avLst/>
          </a:prstGeom>
          <a:solidFill>
            <a:srgbClr val="0008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C478E-BCD1-96CC-9A53-D1486B71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073" y="1089551"/>
            <a:ext cx="12681284" cy="677108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Lucida Bright" panose="02040602050505020304" pitchFamily="18" charset="0"/>
              </a:rPr>
              <a:t>Delivering Measurable Institutional Impact</a:t>
            </a:r>
            <a:endParaRPr lang="en-IN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8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690</Words>
  <Application>Microsoft Office PowerPoint</Application>
  <PresentationFormat>Custom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Lucida Bright</vt:lpstr>
      <vt:lpstr>Trebuchet MS</vt:lpstr>
      <vt:lpstr>Office Theme</vt:lpstr>
      <vt:lpstr>Zenith Hackathon</vt:lpstr>
      <vt:lpstr>PROBLEM STATEMENT</vt:lpstr>
      <vt:lpstr>The Solution – NexusEdu Orchestrator</vt:lpstr>
      <vt:lpstr>Work Flow</vt:lpstr>
      <vt:lpstr>ARCHITECTURE</vt:lpstr>
      <vt:lpstr>TECH STACK</vt:lpstr>
      <vt:lpstr>The NexusEdu Edge – Engineering Innovation</vt:lpstr>
      <vt:lpstr>Delivering Measurable Institutional Impact</vt:lpstr>
      <vt:lpstr>Delivering Measurable Institutional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ANISHA G</dc:creator>
  <cp:keywords>DAG972RZfzc,BAFE6cfJgvA,0</cp:keywords>
  <cp:lastModifiedBy>Bhavithran BK</cp:lastModifiedBy>
  <cp:revision>5</cp:revision>
  <dcterms:created xsi:type="dcterms:W3CDTF">2026-01-13T12:35:30Z</dcterms:created>
  <dcterms:modified xsi:type="dcterms:W3CDTF">2026-02-14T19:32:20Z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2026-01-13T00:00:00Z</vt:filetime>
  </property>
  <property fmtid="{D5CDD505-2E9C-101B-9397-08002B2CF9AE}" pid="5" name="Producer">
    <vt:lpwstr>Canva</vt:lpwstr>
  </property>
</Properties>
</file>